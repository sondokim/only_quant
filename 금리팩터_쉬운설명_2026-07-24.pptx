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40280"/>
            <a:ext cx="1371600" cy="685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23160"/>
            <a:ext cx="10424160" cy="14630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금리 4팩터, 쉽게 이해하기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2000" b="0" i="0">
                <a:solidFill>
                  <a:srgbClr val="F58220"/>
                </a:solidFill>
                <a:latin typeface="맑은 고딕"/>
              </a:rPr>
              <a:t>오늘 포지션이 정해지는 과정을 숫자로 따라가 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058400" cy="11887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 i="0">
                <a:solidFill>
                  <a:srgbClr val="BFD4EA"/>
                </a:solidFill>
                <a:latin typeface="맑은 고딕"/>
              </a:rPr>
              <a:t>수식 없이 4개 팩터가 무엇을 보는지 이해하고,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400" b="0" i="0">
                <a:solidFill>
                  <a:srgbClr val="BFD4EA"/>
                </a:solidFill>
                <a:latin typeface="맑은 고딕"/>
              </a:rPr>
              <a:t>실제 하루치 데이터로 미국·한국 국채선물 포지션이 어떻게 나오는지 단계별로 확인합니다.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669280"/>
            <a:ext cx="10515600" cy="18288"/>
          </a:xfrm>
          <a:prstGeom prst="rect">
            <a:avLst/>
          </a:prstGeom>
          <a:solidFill>
            <a:srgbClr val="2A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8FADCC"/>
                </a:solidFill>
                <a:latin typeface="맑은 고딕"/>
              </a:rPr>
              <a:t>2026-07-24   |   예시 데이터 2026-07-23 종가 기준 (실제 엔진 산출값)   |   내부 교육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시작 전에 — 딱 하나만 기억하세요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이걸 헷갈리면 이후 모든 숫자가 거꾸로 읽힙니다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34440"/>
            <a:ext cx="5394960" cy="160020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44168"/>
            <a:ext cx="5394960" cy="1417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043B72"/>
                </a:solidFill>
                <a:latin typeface="맑은 고딕"/>
              </a:rPr>
              <a:t>채권선물 롱 (+)  =  금리 하락 베팅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000" b="0" i="0">
                <a:solidFill>
                  <a:srgbClr val="6B7280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234440"/>
            <a:ext cx="5394960" cy="160020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344168"/>
            <a:ext cx="5394960" cy="141732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200" b="1" i="0">
                <a:solidFill>
                  <a:srgbClr val="C0392B"/>
                </a:solidFill>
                <a:latin typeface="맑은 고딕"/>
              </a:rPr>
              <a:t>채권선물 숏 (−)  =  금리 상승 베팅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000" b="0" i="0">
                <a:solidFill>
                  <a:srgbClr val="6B7280"/>
                </a:solidFill>
                <a:latin typeface="맑은 고딕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63240"/>
            <a:ext cx="11338560" cy="141732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063240"/>
            <a:ext cx="41148" cy="14173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63824"/>
            <a:ext cx="11036808" cy="12344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그런가요?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채권 가격과 금리는 항상 반대로 움직입니다. 금리가 내리면 기존에 발행된 (이자를 더 많이 주는) 채권의 가치가 올라가기 때문입니다.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그래서 "국채선물을 산다(롱)" = "앞으로 금리가 내릴 것 같다"는 뜻입니다. 이 자료의 모든 + / − 부호는 이 규칙을 따릅니다.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663440"/>
            <a:ext cx="11338560" cy="13258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663440"/>
            <a:ext cx="41148" cy="13258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764024"/>
            <a:ext cx="11036808" cy="11430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오늘의 예를 미리 보면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오늘 이 북의 포지션은 4종목 전부 마이너스(−)입니다 → "한국과 미국 금리가 앞으로 오를 것 같다"에 베팅하고 있다는 뜻입니다.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이 북을 한 문장으로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서로 다른 4명에게 물어보고, 의견을 모아서, 크기를 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88720"/>
            <a:ext cx="11338560" cy="8229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</a:pPr>
            <a:r>
              <a:rPr sz="1700" b="1" i="0">
                <a:solidFill>
                  <a:srgbClr val="043B72"/>
                </a:solidFill>
                <a:latin typeface="맑은 고딕"/>
              </a:rPr>
              <a:t>"금리가 오를까 내릴까?" 를 4가지 다른 방식으로 묻고,
답을 평균 내어 한국·미국 국채선물의 매수/매도 크기를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240280"/>
            <a:ext cx="269748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240280"/>
            <a:ext cx="269748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377440"/>
            <a:ext cx="2697480" cy="1463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900" b="1" i="0">
                <a:solidFill>
                  <a:srgbClr val="043B72"/>
                </a:solidFill>
                <a:latin typeface="맑은 고딕"/>
              </a:rPr>
              <a:t>추세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요즘 어느 쪽으로
움직이고 있나?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2240280"/>
            <a:ext cx="269748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8416" y="2240280"/>
            <a:ext cx="269748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28416" y="2377440"/>
            <a:ext cx="2697480" cy="1463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900" b="1" i="0">
                <a:solidFill>
                  <a:srgbClr val="043B72"/>
                </a:solidFill>
                <a:latin typeface="맑은 고딕"/>
              </a:rPr>
              <a:t>밸류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평소 가격에 비해
비싼가 싼가?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2240280"/>
            <a:ext cx="269748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2240280"/>
            <a:ext cx="269748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2377440"/>
            <a:ext cx="2697480" cy="1463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900" b="1" i="0">
                <a:solidFill>
                  <a:srgbClr val="043B72"/>
                </a:solidFill>
                <a:latin typeface="맑은 고딕"/>
              </a:rPr>
              <a:t>캐리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들고 있으면 이자를
얼마나 주나?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62288" y="2240280"/>
            <a:ext cx="269748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62288" y="2240280"/>
            <a:ext cx="269748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2288" y="2377440"/>
            <a:ext cx="2697480" cy="146304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900" b="1" i="0">
                <a:solidFill>
                  <a:srgbClr val="043B72"/>
                </a:solidFill>
                <a:latin typeface="맑은 고딕"/>
              </a:rPr>
              <a:t>정책</a:t>
            </a:r>
          </a:p>
          <a:p>
            <a:pPr algn="ctr">
              <a:lnSpc>
                <a:spcPct val="125000"/>
              </a:lnSpc>
              <a:spcBef>
                <a:spcPts val="8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중앙은행은 어디로
가고 있나?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160520"/>
            <a:ext cx="1133856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160520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61104"/>
            <a:ext cx="1103680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중요한 것 두 가지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① 4명의 의견은 똑같은 비중(각 25%)으로 반영됩니다. 어느 한 명을 더 믿지 않습니다.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② 의견의 세기는 "방향"만 정합니다. 크기는 별도의 리스크 계산이 정합니다 — 신호가 2배 강해져도 포지션이 2배가 되지 않습니다.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이 두 가지가 이 북이 "예측을 잘해서"가 아니라 "규칙을 지켜서" 돈을 버는 구조인 이유입니다.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팩터 ① — 추세 (Trend)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요즘 어느 쪽으로 움직이고 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722376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07008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692200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쉽게 말하면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0" i="0">
                <a:solidFill>
                  <a:srgbClr val="1F2A37"/>
                </a:solidFill>
                <a:latin typeface="맑은 고딕"/>
              </a:rPr>
              <a:t>최근 6개월과 1년 동안 채권 가격이 오르는 흐름이었다면 "그 흐름이 좀 더 갈 것"에 베팅합니다.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043B72"/>
                </a:solidFill>
                <a:latin typeface="맑은 고딕"/>
              </a:rPr>
              <a:t>달리던 방향으로 계속 달린다 — 가장 고전적인 추세추종입니다.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단, 방향 없이 오르락내리락하는 장세로 판단되면 이 팩터를 자동으로 꺼버립니다 (레짐 게이트).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207008"/>
            <a:ext cx="3749039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207008"/>
            <a:ext cx="41148" cy="260604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3429000" cy="23774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6B7280"/>
                </a:solidFill>
                <a:latin typeface="맑은 고딕"/>
              </a:rPr>
              <a:t>이 팩터의 성격</a:t>
            </a:r>
          </a:p>
          <a:p>
            <a:pPr algn="ctr">
              <a:lnSpc>
                <a:spcPct val="100000"/>
              </a:lnSpc>
              <a:spcBef>
                <a:spcPts val="800"/>
              </a:spcBef>
            </a:pPr>
            <a:r>
              <a:rPr sz="2600" b="1" i="0">
                <a:solidFill>
                  <a:srgbClr val="043B72"/>
                </a:solidFill>
                <a:latin typeface="맑은 고딕"/>
              </a:rPr>
              <a:t>방향성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다른 나라와 비교하지 않고, 그 나라 자체의 흐름만 봅니다. 8개국이 다 같이 오르면 다 같이 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언제 채권을 사나 (롱)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최근 6~12개월 채권 가격이 오르는 추세일 때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= 금리가 꾸준히 내려오고 있을 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돈이 되나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금리 사이클은 몇 달 단위로 관성이 있습니다. 중앙은행 정책도, 경기 흐름도 하루아침에 방향을 바꾸지 않기 때문입니다.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너무 짧은 추세(3개월 이하)는 방향이 자주 뒤집혀 손실만 쌓였습니다. 그래서 6개월·1년만 씁니다.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팩터 ② — 밸류 (Value)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평소 가격에 비해 비싼가 싼가?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722376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07008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692200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쉽게 말하면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0" i="0">
                <a:solidFill>
                  <a:srgbClr val="1F2A37"/>
                </a:solidFill>
                <a:latin typeface="맑은 고딕"/>
              </a:rPr>
              <a:t>지난 2년 평균 가격과 비교해서 지금이 비싼지 싼지를 봅니다. 너무 오른 채권은 팔고, 너무 내린 채권은 삽니다.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043B72"/>
                </a:solidFill>
                <a:latin typeface="맑은 고딕"/>
              </a:rPr>
              <a:t>고무줄처럼 — 많이 늘어나면 언젠가 제자리로 돌아온다는 생각입니다.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단, "절대적으로 싸다"가 아니라 "8개국 중에서 상대적으로 싸다"를 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207008"/>
            <a:ext cx="3749039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207008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3429000" cy="23774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6B7280"/>
                </a:solidFill>
                <a:latin typeface="맑은 고딕"/>
              </a:rPr>
              <a:t>이 팩터의 성격</a:t>
            </a:r>
          </a:p>
          <a:p>
            <a:pPr algn="ctr">
              <a:lnSpc>
                <a:spcPct val="100000"/>
              </a:lnSpc>
              <a:spcBef>
                <a:spcPts val="800"/>
              </a:spcBef>
            </a:pPr>
            <a:r>
              <a:rPr sz="2600" b="1" i="0">
                <a:solidFill>
                  <a:srgbClr val="F58220"/>
                </a:solidFill>
                <a:latin typeface="맑은 고딕"/>
              </a:rPr>
              <a:t>상대가치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8개국 평균을 빼고 비교합니다. 모든 나라가 다 같이 싸면 아무도 사지 않습니다 — 오직 순위만 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언제 채권을 사나 (롱)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2년 평균보다 싼 편일 때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(= 다른 나라들보다 금리가 더 많이 올라온 상태)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돈이 되나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시장은 한쪽으로 과하게 쏠렸다가 되돌아오는 경향이 있습니다. 추세 팩터가 놓치는 "너무 갔다" 구간을 이 팩터가 잡아줍니다.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추세와 밸류는 서로 반대 방향을 가리킬 때가 많습니다. 일부러 그렇게 섞었습니다 — 한쪽이 틀릴 때 다른 쪽이 버텨줍니다.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팩터 ③ — 캐리 (Carry)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들고 있으면 이자를 얼마나 주나?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722376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07008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692200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쉽게 말하면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0" i="0">
                <a:solidFill>
                  <a:srgbClr val="1F2A37"/>
                </a:solidFill>
                <a:latin typeface="맑은 고딕"/>
              </a:rPr>
              <a:t>가격이 전혀 안 움직여도, 채권을 들고 있으면 이자가 나옵니다. 그 이자가 큰 나라의 채권을 삽니다.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단, 환헤지 비용을 뺀 "실제로 남는 이자"로 계산합니다. 금리가 높아 보여도 환헤지 비용이 다 먹으면 남는 게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043B72"/>
                </a:solidFill>
                <a:latin typeface="맑은 고딕"/>
              </a:rPr>
              <a:t>예금 이자율이 높은 은행에 돈을 넣되, 수수료를 뺀 실수령액으로 비교하는 것과 같습니다.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207008"/>
            <a:ext cx="3749039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207008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3429000" cy="23774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6B7280"/>
                </a:solidFill>
                <a:latin typeface="맑은 고딕"/>
              </a:rPr>
              <a:t>이 팩터의 성격</a:t>
            </a:r>
          </a:p>
          <a:p>
            <a:pPr algn="ctr">
              <a:lnSpc>
                <a:spcPct val="100000"/>
              </a:lnSpc>
              <a:spcBef>
                <a:spcPts val="800"/>
              </a:spcBef>
            </a:pPr>
            <a:r>
              <a:rPr sz="2600" b="1" i="0">
                <a:solidFill>
                  <a:srgbClr val="F58220"/>
                </a:solidFill>
                <a:latin typeface="맑은 고딕"/>
              </a:rPr>
              <a:t>상대가치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8개국 평균을 빼고 비교합니다. "이자를 많이 주는 나라 롱 / 적게 주는 나라 숏"만 남습니다.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언제 채권을 사나 (롱)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환헤지 비용을 빼고도 이자가 많이 남는 나라일 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돈이 되나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시장이 아무 방향으로도 안 움직여도 이자만큼은 쌓입니다. 가장 꾸준하고 설명하기 쉬운 수익원입니다.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참고: 미국 2Y와 한국 3Y처럼 만기가 짧은 종목은 계산 구조상 캐리 값이 똑같이 나옵니다 — 이 팩터는 그 둘을 구분하지 못합니다.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팩터 ④ — 정책 모멘텀 (Policy)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중앙은행은 어디로 가고 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7223760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07008"/>
            <a:ext cx="41148" cy="26060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6922008" cy="24231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쉽게 말하면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0" i="0">
                <a:solidFill>
                  <a:srgbClr val="1F2A37"/>
                </a:solidFill>
                <a:latin typeface="맑은 고딕"/>
              </a:rPr>
              <a:t>그 나라의 짧은 만기 금리(2~3년)가 지난 6개월간 오르고 있었는지 내리고 있었는지를 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043B72"/>
                </a:solidFill>
                <a:latin typeface="맑은 고딕"/>
              </a:rPr>
              <a:t>짧은 금리는 중앙은행 정책을 가장 빠르게 반영합니다 — 내려오고 있다 = 금리인하 사이클 = 채권 매수.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가격이 아니라 "금리" 자체를 직접 보는 유일한 팩터입니다.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207008"/>
            <a:ext cx="3749039" cy="26060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207008"/>
            <a:ext cx="41148" cy="260604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325880"/>
            <a:ext cx="3429000" cy="237744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6B7280"/>
                </a:solidFill>
                <a:latin typeface="맑은 고딕"/>
              </a:rPr>
              <a:t>이 팩터의 성격</a:t>
            </a:r>
          </a:p>
          <a:p>
            <a:pPr algn="ctr">
              <a:lnSpc>
                <a:spcPct val="100000"/>
              </a:lnSpc>
              <a:spcBef>
                <a:spcPts val="800"/>
              </a:spcBef>
            </a:pPr>
            <a:r>
              <a:rPr sz="2600" b="1" i="0">
                <a:solidFill>
                  <a:srgbClr val="043B72"/>
                </a:solidFill>
                <a:latin typeface="맑은 고딕"/>
              </a:rPr>
              <a:t>방향성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나라별로만 구분하고 만기는 구분하지 않습니다 — 미국 2Y와 미국 10Y는 항상 같은 값을 받습니다.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언제 채권을 사나 (롱)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단기금리가 6개월간 내려왔을 때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(= 중앙은행이 완화 쪽으로 가고 있을 때)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4023360"/>
            <a:ext cx="5577840" cy="16916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023360"/>
            <a:ext cx="41148" cy="16916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123944"/>
            <a:ext cx="5276088" cy="1508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돈이 되나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50" b="0" i="0">
                <a:solidFill>
                  <a:srgbClr val="1F2A37"/>
                </a:solidFill>
                <a:latin typeface="맑은 고딕"/>
              </a:rPr>
              <a:t>중앙은행 사이클은 한번 방향을 잡으면 1~2년씩 갑니다. 전략 공장에서도 가장 성과가 좋았던 아이디어입니다.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585216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오늘 미국 정책 값은 −1.96 입니다 — 미국 단기금리가 6개월간 꽤 올랐다(긴축)는 뜻이고, 그래서 강한 매도 신호를 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4팩터 한눈에 비교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무엇이 다르고, 왜 4개를 같이 쓰나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188720"/>
          <a:ext cx="113385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3282"/>
                <a:gridCol w="3909848"/>
                <a:gridCol w="3127878"/>
                <a:gridCol w="1433611"/>
                <a:gridCol w="1563939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팩터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무엇을 보나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언제 사나 (롱)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기간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① 추세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최근 6개월·1년 가격 흐름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오르는 추세일 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방향성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6~12개월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② 밸류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2년 평균 대비 비싼가 싼가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남들보다 싼 편일 때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상대가치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2년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③ 캐리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환헤지 후 실제 남는 이자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이자가 많이 남을 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상대가치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현재 수준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F2A37"/>
                          </a:solidFill>
                          <a:latin typeface="맑은 고딕"/>
                        </a:rPr>
                        <a:t>④ 정책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단기금리의 6개월 변화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중앙은행이 완화할 때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방향성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F2A37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3566160"/>
            <a:ext cx="5577840" cy="12344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566160"/>
            <a:ext cx="41148" cy="12344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666744"/>
            <a:ext cx="5276088" cy="10515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"방향성" 팩터 — 추세 · 정책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금리가 오를까 내릴까에 직접 베팅합니다. 8개국이 다 같이 사라고 하면 다 같이 삽니다.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3566160"/>
            <a:ext cx="5577840" cy="12344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3566160"/>
            <a:ext cx="41148" cy="12344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666744"/>
            <a:ext cx="5276088" cy="10515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"상대가치" 팩터 — 밸류 · 캐리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나라끼리 순위만 매깁니다. 8개국 평균을 빼기 때문에 "어디가 남들보다 나은가"만 남습니다.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956048"/>
            <a:ext cx="11338560" cy="105156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4956048"/>
            <a:ext cx="41148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056632"/>
            <a:ext cx="11036808" cy="8686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4개를 같이 쓰나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네 팩터는 서로 다른 것을 보기 때문에 동시에 틀릴 확률이 낮습니다. 한두 개가 헛다리를 짚어도 나머지가 버텨줍니다 — 이것이 분산의 핵심입니다.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숫자 읽는 법 — 딱 두 가지 개념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z-score 와 "평균 빼기(중립화)"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07008"/>
            <a:ext cx="5577840" cy="23774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07008"/>
            <a:ext cx="41148" cy="23774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07592"/>
            <a:ext cx="5276088" cy="21945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z-score = "평소보다 얼마나 특이한가"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모든 팩터 값은 z-score로 바뀝니다. 단위가 다른 것들(가격·이자·금리변화)을 같은 자로 재기 위해서입니다.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0  =  평소와 똑같음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+1 =  평소보다 꽤 높은 편  /  +2 = 매우 드물게 높음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−2 =  매우 드물게 낮음  (오늘 미국 2Y 추세가 −2.19)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기준은 "지난 1년 동안의 자기 자신"입니다.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07008"/>
            <a:ext cx="5577840" cy="23774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207008"/>
            <a:ext cx="41148" cy="23774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07592"/>
            <a:ext cx="5276088" cy="21945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중립화 = "8개국 평균을 뺀다"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밸류·캐리에만 적용합니다. 평균을 빼면 "다 같이 오를까"는 사라지고 "누가 남들보다 나은가"만 남습니다.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예: 오늘 미국 2Y의 밸류 원값은 +1.73 (싼 편)이지만,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8개국이 더 싸서 평균을 빼면 −0.26 이 됩니다 → 상대적으로는 비싼 편.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추세·정책은 평균을 빼지 않습니다 — 방향 베팅을 그대로 남기기 위해서.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749039"/>
            <a:ext cx="11338560" cy="19202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749039"/>
            <a:ext cx="41148" cy="19202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49623"/>
            <a:ext cx="11036808" cy="17373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⚠ 여기서 자주 나오는 오해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"평균을 뺐으니 서로 상쇄돼서 위험이 없는 것 아닌가요?"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아닙니다. 평균은 8개국(영국·일본·호주 포함)으로 계산하는데, 실제로 주문하는 건 한국·미국 4종뿐입니다.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즉 상대가치의 "반대편 다리"를 실제로는 사지 않기 때문에, 일부 방향 노출이 남습니다. 의도된 설계이고, 검증에서도 이 편이 더 나았습니다.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예시 STEP 1 — 오늘 4명은 뭐라고 했나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2026-07-23 종가 기준 · 실제 엔진 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2377440" cy="3840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194560" cy="34747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STEP 1</a:t>
            </a:r>
            <a:r>
              <a:rPr sz="1200" b="1" i="0">
                <a:solidFill>
                  <a:srgbClr val="FFFFFF"/>
                </a:solidFill>
                <a:latin typeface="맑은 고딕"/>
              </a:rPr>
              <a:t>   4팩터 의견 수집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700784"/>
          <a:ext cx="78638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2710"/>
                <a:gridCol w="1532782"/>
                <a:gridCol w="1532782"/>
                <a:gridCol w="1532782"/>
                <a:gridCol w="1532782"/>
              </a:tblGrid>
              <a:tr h="4023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팩터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2Y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3Y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추세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-2.19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-1.14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밸류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-0.26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+0.07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+0.34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+0.51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캐리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-0.00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+0.25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정책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-1.96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-1.96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-0.91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-0.91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549640" y="1700784"/>
            <a:ext cx="3200400" cy="2304288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49640" y="1700784"/>
            <a:ext cx="41148" cy="230428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1801368"/>
            <a:ext cx="2898648" cy="212140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읽어보면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추세·정책은 4종목 전부 마이너스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= 둘 다 "금리 오른다"에 강하게 베팅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1E7A4C"/>
                </a:solidFill>
                <a:latin typeface="맑은 고딕"/>
              </a:rPr>
              <a:t>밸류·캐리는 한국 쪽이 플러스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= 한국이 상대적으로 매력적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06240"/>
            <a:ext cx="11338560" cy="160020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4206240"/>
            <a:ext cx="41148" cy="1600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306824"/>
            <a:ext cx="11036808" cy="14173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이 표에서 바로 보이는 것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미국 2Y의 추세 −2.19 와 정책 −1.96 이 오늘 가장 강한 신호입니다 — 미국 단기금리가 6개월간 뚜렷하게 올랐고, 가격도 계속 내려왔다는 뜻.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반대로 한국 10Y는 밸류 +0.51, 캐리 +0.25 로 "사라"는 의견이지만 크기가 작습니다.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→ 결과적으로 4종목 모두 매도 방향이 되고, 그중 미국이 더 강하게 나올 것임을 여기서 이미 짐작할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예시 STEP 2 — 의견을 하나로 모은다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4명의 평균 = 컨빅션 (얼마나 확신하는가)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3017520" cy="3840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834640" cy="34747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STEP 2</a:t>
            </a:r>
            <a:r>
              <a:rPr sz="1200" b="1" i="0">
                <a:solidFill>
                  <a:srgbClr val="FFFFFF"/>
                </a:solidFill>
                <a:latin typeface="맑은 고딕"/>
              </a:rPr>
              <a:t>   단순 평균 → 5일 부드럽게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19072"/>
            <a:ext cx="11338560" cy="5029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043B72"/>
                </a:solidFill>
                <a:latin typeface="맑은 고딕"/>
              </a:rPr>
              <a:t>미국 2Y :  ( −2.19  +  (−0.26)  +  (−0.02)  +  (−1.96) )  ÷  4  =  −1.11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2395728"/>
          <a:ext cx="11338555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19"/>
                <a:gridCol w="1889759"/>
                <a:gridCol w="1889759"/>
                <a:gridCol w="1889759"/>
                <a:gridCol w="1889759"/>
              </a:tblGrid>
              <a:tr h="4023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2Y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3Y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4팩터 단순 평균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043B72"/>
                          </a:solidFill>
                          <a:latin typeface="맑은 고딕"/>
                        </a:rPr>
                        <a:t>최근 5일 평활 후 (컨빅션)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043B72"/>
                          </a:solidFill>
                          <a:latin typeface="맑은 고딕"/>
                        </a:rPr>
                        <a:t>-1.028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043B72"/>
                          </a:solidFill>
                          <a:latin typeface="맑은 고딕"/>
                        </a:rPr>
                        <a:t>-0.885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043B72"/>
                          </a:solidFill>
                          <a:latin typeface="맑은 고딕"/>
                        </a:rPr>
                        <a:t>-0.345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043B72"/>
                          </a:solidFill>
                          <a:latin typeface="맑은 고딕"/>
                        </a:rPr>
                        <a:t>-0.260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50208"/>
            <a:ext cx="5577840" cy="150876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950208"/>
            <a:ext cx="41148" cy="1508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50792"/>
            <a:ext cx="5276088" cy="1325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왜 5일 평활을 하나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하루치 신호가 튀었다고 바로 반응하면 매매만 늘고 비용만 나갑니다.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최근 5일을 부드럽게 섞어 "진짜 바뀐 것"만 남깁니다.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3950208"/>
            <a:ext cx="5577840" cy="150876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3950208"/>
            <a:ext cx="41148" cy="1508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050792"/>
            <a:ext cx="5276088" cy="132588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컨빅션이 뜻하는 것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−1.03 은 "미국 2Y를 팔자"는 방향과 그 확신의 세기입니다.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아직 "몇 계약 팔지"는 정해지지 않았습니다 — 그건 STEP 3부터.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623560"/>
            <a:ext cx="11338560" cy="457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※ 4개를 단순 평균하는 이유: 어느 팩터가 앞으로 더 잘 맞을지 미리 알 수 없기 때문입니다. 과거 성과를 보고 가중치를 조정하면 과최적화가 되어 실전에서 무너집니다.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예시 STEP 3 — 크기 정하기 ①  "덜 흔들리면 더 많이"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같은 확신이라도 종목마다 계약 수가 다른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2377440" cy="3840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194560" cy="34747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STEP 3</a:t>
            </a:r>
            <a:r>
              <a:rPr sz="1200" b="1" i="0">
                <a:solidFill>
                  <a:srgbClr val="FFFFFF"/>
                </a:solidFill>
                <a:latin typeface="맑은 고딕"/>
              </a:rPr>
              <a:t>   변동성으로 나누기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700784"/>
          <a:ext cx="11338557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8253"/>
                <a:gridCol w="1797576"/>
                <a:gridCol w="1797576"/>
                <a:gridCol w="1797576"/>
                <a:gridCol w="1797576"/>
              </a:tblGrid>
              <a:tr h="4023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2Y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3Y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컨빅션 (STEP 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-1.028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-0.885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-0.345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-0.260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연 변동성 (얼마나 흔들리나)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1.3%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4.3%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2.4%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6.7%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→ 배수 (덜 흔들릴수록 크게)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F58220"/>
                          </a:solidFill>
                          <a:latin typeface="맑은 고딕"/>
                        </a:rPr>
                        <a:t>7.70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F58220"/>
                          </a:solidFill>
                          <a:latin typeface="맑은 고딕"/>
                        </a:rPr>
                        <a:t>2.33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F58220"/>
                          </a:solidFill>
                          <a:latin typeface="맑은 고딕"/>
                        </a:rPr>
                        <a:t>4.09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F58220"/>
                          </a:solidFill>
                          <a:latin typeface="맑은 고딕"/>
                        </a:rPr>
                        <a:t>1.49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1" i="0">
                          <a:solidFill>
                            <a:srgbClr val="1F2A37"/>
                          </a:solidFill>
                          <a:latin typeface="맑은 고딕"/>
                        </a:rPr>
                        <a:t>컨빅션 × 배수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-7.91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-2.07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-1.41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200" b="0" i="0">
                          <a:solidFill>
                            <a:srgbClr val="1F2A37"/>
                          </a:solidFill>
                          <a:latin typeface="맑은 고딕"/>
                        </a:rPr>
                        <a:t>-0.39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133087"/>
            <a:ext cx="722376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133087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233671"/>
            <a:ext cx="692200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여기가 가장 헷갈리는 부분입니다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미국 2Y는 하루에 잘 안 움직입니다 (연 변동성 1.3%). 그래서 같은 확신이라도 7.70배 많이 삽니다.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한국 10Y는 많이 움직입니다 (6.7%). 그래서 1.49배만 삽니다.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→ 명목 금액이 크다고 위험이 큰 게 아닙니다. 모든 종목이 비슷한 크기의 위험을 지도록 맞춘 결과입니다.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133087"/>
            <a:ext cx="3749039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4242815"/>
            <a:ext cx="3749039" cy="1600200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1" i="0">
                <a:solidFill>
                  <a:srgbClr val="043B72"/>
                </a:solidFill>
                <a:latin typeface="맑은 고딕"/>
              </a:rPr>
              <a:t>위험 균등</a:t>
            </a: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sz="1000" b="0" i="0">
                <a:solidFill>
                  <a:srgbClr val="6B7280"/>
                </a:solidFill>
                <a:latin typeface="맑은 고딕"/>
              </a:rPr>
              <a:t>명목이 아니라 "흔들리는 정도"를 기준으로
모든 종목에 같은 위험을 배분합니다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예시 STEP 4 — 크기 정하기 ②  마지막 3번의 조정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북 전체 위험 맞추기 → 천천히 움직이기 → 절반으로 줄이기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2377440" cy="3840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194560" cy="34747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STEP 4</a:t>
            </a:r>
            <a:r>
              <a:rPr sz="1200" b="1" i="0">
                <a:solidFill>
                  <a:srgbClr val="FFFFFF"/>
                </a:solidFill>
                <a:latin typeface="맑은 고딕"/>
              </a:rPr>
              <a:t>   전체 조정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700784"/>
          <a:ext cx="11338560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1341120"/>
                <a:gridCol w="1341120"/>
                <a:gridCol w="1341120"/>
                <a:gridCol w="1341120"/>
                <a:gridCol w="3169920"/>
              </a:tblGrid>
              <a:tr h="4023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조정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2Y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3Y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무엇을 하는가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1F2A37"/>
                          </a:solidFill>
                          <a:latin typeface="맑은 고딕"/>
                        </a:rPr>
                        <a:t>컨빅션 × 배수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-7.91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-2.07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-1.41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-0.39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STEP 3 결과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1F2A37"/>
                          </a:solidFill>
                          <a:latin typeface="맑은 고딕"/>
                        </a:rPr>
                        <a:t>① 북 전체 위험 맞추기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-1.403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-0.966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-0.660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-0.182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전체를 약 18%로 축소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1F2A37"/>
                          </a:solidFill>
                          <a:latin typeface="맑은 고딕"/>
                        </a:rPr>
                        <a:t>② 천천히 움직이기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-1.530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-0.996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-0.562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-0.135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어제 포지션 80% 유지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043B72"/>
                          </a:solidFill>
                          <a:latin typeface="맑은 고딕"/>
                        </a:rPr>
                        <a:t>③ 최종 절반으로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-0.765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-0.498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-0.281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-0.068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운용 규모에 맞춤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133087"/>
            <a:ext cx="365760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133087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233671"/>
            <a:ext cx="335584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① 북 전체 위험 맞추기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금리 북 전체가 연 7.1% 정도만 흔들리도록 전체 크기를 조절합니다.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시장이 요동치면 자동으로 작아지고, 잠잠하면 커집니다.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4133087"/>
            <a:ext cx="365760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4133087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4233671"/>
            <a:ext cx="335584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② 천천히 움직이기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오늘 새 목표의 20%만 반영하고 80%는 어제 것을 유지합니다.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신호가 출렁여도 실제 주문은 잘게 나옵니다 — 비용 절감의 핵심.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4133087"/>
            <a:ext cx="365760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4133087"/>
            <a:ext cx="41148" cy="1783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233671"/>
            <a:ext cx="335584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③ 손실이 커지면?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C0392B"/>
                </a:solidFill>
                <a:latin typeface="맑은 고딕"/>
              </a:rPr>
              <a:t>북 손실이 4%를 넘으면 자동으로 절반, 8%를 넘으면 전부 청산합니다.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오늘은 손실이 없어 그대로 통과했습니다.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예시 STEP 5 — 오늘의 최종 주문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0" i="0">
                <a:solidFill>
                  <a:srgbClr val="BFD4EA"/>
                </a:solidFill>
                <a:latin typeface="맑은 고딕"/>
              </a:rPr>
              <a:t>여기까지가 매일 아침 대시보드에 뜨는 숫자입니다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52144"/>
            <a:ext cx="2377440" cy="3840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194560" cy="347472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STEP 5</a:t>
            </a:r>
            <a:r>
              <a:rPr sz="1200" b="1" i="0">
                <a:solidFill>
                  <a:srgbClr val="FFFFFF"/>
                </a:solidFill>
                <a:latin typeface="맑은 고딕"/>
              </a:rPr>
              <a:t>   주문 확정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700784"/>
          <a:ext cx="11338558" cy="2231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4686"/>
                <a:gridCol w="1667435"/>
                <a:gridCol w="1667435"/>
                <a:gridCol w="1667435"/>
                <a:gridCol w="1667435"/>
                <a:gridCol w="1734132"/>
              </a:tblGrid>
              <a:tr h="40233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2Y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미국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3Y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한국 10Y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043B7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043B72"/>
                          </a:solidFill>
                          <a:latin typeface="맑은 고딕"/>
                        </a:rPr>
                        <a:t>오늘 목표 포지션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-0.765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-0.498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-0.281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-0.068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043B72"/>
                          </a:solidFill>
                          <a:latin typeface="맑은 고딕"/>
                        </a:rPr>
                        <a:t>-1.61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1F2A37"/>
                          </a:solidFill>
                          <a:latin typeface="맑은 고딕"/>
                        </a:rPr>
                        <a:t>어제 포지션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-0.781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-0.502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-0.269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-0.062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-1.61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1F2A37"/>
                          </a:solidFill>
                          <a:latin typeface="맑은 고딕"/>
                        </a:rPr>
                        <a:t>오늘 주문 (차이)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+0.016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+0.004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-0.012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-0.006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1" i="0">
                          <a:solidFill>
                            <a:srgbClr val="1F2A37"/>
                          </a:solidFill>
                          <a:latin typeface="맑은 고딕"/>
                        </a:rPr>
                        <a:t>금액 환산 (만원)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-958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-623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-352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-85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</a:pPr>
                      <a:r>
                        <a:rPr sz="1150" b="0" i="0">
                          <a:solidFill>
                            <a:srgbClr val="1F2A37"/>
                          </a:solidFill>
                          <a:latin typeface="맑은 고딕"/>
                        </a:rPr>
                        <a:t>-2,018</a:t>
                      </a:r>
                    </a:p>
                  </a:txBody>
                  <a:tcPr anchor="ctr" marL="54864" marR="54864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4133087"/>
            <a:ext cx="7223760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133087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233671"/>
            <a:ext cx="6922008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오늘 이 포지션인 이유 — 한 문단으로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한국·미국 국채선물 4종을 모두 매도(금리 상승 베팅)하고 있습니다.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추세와 정책 두 팩터가 강하게 매도를 가리켰고(미국 −2.19 / −1.96), 밸류·캐리가 한국 쪽에 소폭 매수를 냈지만 이기지 못했습니다.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미국 매도가 더 큰 이유는 신호가 더 강했고(정책 −1.96 vs −0.91), 미국 2Y가 덜 흔들려 같은 위험에 더 많은 계약이 들어가기 때문입니다.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4133087"/>
            <a:ext cx="3749039" cy="178308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4133087"/>
            <a:ext cx="41148" cy="17830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233671"/>
            <a:ext cx="3447287" cy="16002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043B72"/>
                </a:solidFill>
                <a:latin typeface="맑은 고딕"/>
              </a:rPr>
              <a:t>주문은 이만큼뿐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043B72"/>
                </a:solidFill>
                <a:latin typeface="맑은 고딕"/>
              </a:rPr>
              <a:t>어제와 비교하면 변화는 미미합니다 (최대 +0.02).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"천천히 움직이기" 덕분에 매일 큰 거래를 하지 않습니다.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100" b="1" i="0">
                <a:solidFill>
                  <a:srgbClr val="F58220"/>
                </a:solidFill>
                <a:latin typeface="맑은 고딕"/>
              </a:rPr>
              <a:t>연간 회전율 17배 — 하루 평균으로는 아주 작은 주문입니다.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029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058400" cy="658368"/>
          </a:xfrm>
          <a:prstGeom prst="rect">
            <a:avLst/>
          </a:prstGeom>
          <a:noFill/>
        </p:spPr>
        <p:txBody>
          <a:bodyPr wrap="square" anchor="ctr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100" b="1" i="0">
                <a:solidFill>
                  <a:srgbClr val="FFFFFF"/>
                </a:solidFill>
                <a:latin typeface="맑은 고딕"/>
              </a:rPr>
              <a:t>자주 나오는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23015" y="6473952"/>
            <a:ext cx="548640" cy="256032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900" b="0" i="0">
                <a:solidFill>
                  <a:srgbClr val="6B7280"/>
                </a:solidFill>
                <a:latin typeface="맑은 고딕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11338560" cy="1005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41148" cy="10058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9304"/>
            <a:ext cx="10972800" cy="8412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Q.  </a:t>
            </a:r>
            <a:r>
              <a:rPr sz="1200" b="1" i="0">
                <a:solidFill>
                  <a:srgbClr val="043B72"/>
                </a:solidFill>
                <a:latin typeface="맑은 고딕"/>
              </a:rPr>
              <a:t>신호가 2배 강해지면 포지션도 2배가 되나요?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A.  아닙니다. 신호는 방향과 상대적 세기만 정하고, 크기는 변동성과 북 전체 위험 한도가 정합니다. 확신이 강해도 시장이 요동치면 포지션은 오히려 줄어듭니다.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95728"/>
            <a:ext cx="11338560" cy="1005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395728"/>
            <a:ext cx="41148" cy="10058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96312"/>
            <a:ext cx="10972800" cy="8412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Q.  </a:t>
            </a:r>
            <a:r>
              <a:rPr sz="1200" b="1" i="0">
                <a:solidFill>
                  <a:srgbClr val="043B72"/>
                </a:solidFill>
                <a:latin typeface="맑은 고딕"/>
              </a:rPr>
              <a:t>왜 영국·일본·호주는 신호만 보고 사지 않나요?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A.  성과가 나빠서가 아니라 매매 시간 때문입니다. 한국에서 그 시장들의 종가에 맞춰 주문하기 어렵습니다. 대신 신호 계산에는 계속 참여시켜 "한국·미국이 남들보다 나은가"를 판단하는 기준선 역할을 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602736"/>
            <a:ext cx="11338560" cy="1005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3602736"/>
            <a:ext cx="41148" cy="10058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10972800" cy="8412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Q.  </a:t>
            </a:r>
            <a:r>
              <a:rPr sz="1200" b="1" i="0">
                <a:solidFill>
                  <a:srgbClr val="043B72"/>
                </a:solidFill>
                <a:latin typeface="맑은 고딕"/>
              </a:rPr>
              <a:t>오늘 신호가 확 바뀌면 포지션도 확 바뀌나요?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A.  아닙니다. 새 목표의 20%만 반영합니다. 신호가 하루 튀어도 실제 주문은 조금씩만 나가고, 진짜 방향이 바뀌면 며칠에 걸쳐 따라갑니다.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809744"/>
            <a:ext cx="11338560" cy="1005840"/>
          </a:xfrm>
          <a:prstGeom prst="rect">
            <a:avLst/>
          </a:prstGeom>
          <a:solidFill>
            <a:srgbClr val="F6F8FA"/>
          </a:solidFill>
          <a:ln w="9525">
            <a:solidFill>
              <a:srgbClr val="DF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4809744"/>
            <a:ext cx="41148" cy="100584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10328"/>
            <a:ext cx="10972800" cy="841248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F58220"/>
                </a:solidFill>
                <a:latin typeface="맑은 고딕"/>
              </a:rPr>
              <a:t>Q.  </a:t>
            </a:r>
            <a:r>
              <a:rPr sz="1200" b="1" i="0">
                <a:solidFill>
                  <a:srgbClr val="043B72"/>
                </a:solidFill>
                <a:latin typeface="맑은 고딕"/>
              </a:rPr>
              <a:t>손실이 계속 나면 누가 멈추나요?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100" b="0" i="0">
                <a:solidFill>
                  <a:srgbClr val="1F2A37"/>
                </a:solidFill>
                <a:latin typeface="맑은 고딕"/>
              </a:rPr>
              <a:t>A.  북스톱이 자동으로 멈춥니다. 손실 4% 초과 시 절반, 8% 초과 시 전량 청산이며, 회복하면 자동으로 다시 들어갑니다. 사람이 손으로 켜고 끄지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3B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103120"/>
            <a:ext cx="1371600" cy="6858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기억할 것 3가지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3291840"/>
            <a:ext cx="36576" cy="6583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264408"/>
            <a:ext cx="1005840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1.  4명에게 묻고 평균 낸다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50" b="0" i="0">
                <a:solidFill>
                  <a:srgbClr val="BFD4EA"/>
                </a:solidFill>
                <a:latin typeface="맑은 고딕"/>
              </a:rPr>
              <a:t>추세·밸류·캐리·정책이 각각 25%씩. 어느 하나를 더 믿지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187952"/>
            <a:ext cx="36576" cy="6583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60520"/>
            <a:ext cx="1005840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2.  신호는 방향, 리스크는 크기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50" b="0" i="0">
                <a:solidFill>
                  <a:srgbClr val="BFD4EA"/>
                </a:solidFill>
                <a:latin typeface="맑은 고딕"/>
              </a:rPr>
              <a:t>확신이 강해도 시장이 흔들리면 포지션은 작아집니다. 이 분리가 핵심입니다.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084064"/>
            <a:ext cx="36576" cy="65836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056632"/>
            <a:ext cx="10058400" cy="73152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3.  천천히 움직이고, 알아서 멈춘다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1150" b="0" i="0">
                <a:solidFill>
                  <a:srgbClr val="BFD4EA"/>
                </a:solidFill>
                <a:latin typeface="맑은 고딕"/>
              </a:rPr>
              <a:t>매일 20%씩만 조정하고, 손실이 커지면 북스톱이 자동으로 규모를 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anchor="t" lIns="54864" rIns="54864" tIns="27432" bIns="27432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00" b="0" i="0">
                <a:solidFill>
                  <a:srgbClr val="8FADCC"/>
                </a:solidFill>
                <a:latin typeface="맑은 고딕"/>
              </a:rPr>
              <a:t>더 자세한 내용: 「글로벌 금리 팩터 포트폴리오 — 운용 로직 설명서」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